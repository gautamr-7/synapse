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-1097280"/>
            <a:ext cx="5029200" cy="5029200"/>
          </a:xfrm>
          <a:prstGeom prst="ellipse">
            <a:avLst/>
          </a:prstGeom>
          <a:solidFill>
            <a:srgbClr val="E85D04">
              <a:alpha val="12000"/>
            </a:srgbClr>
          </a:solidFill>
          <a:ln w="12700">
            <a:solidFill>
              <a:srgbClr val="E85D04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502920"/>
            <a:ext cx="822960" cy="822960"/>
          </a:xfrm>
          <a:prstGeom prst="ellipse">
            <a:avLst/>
          </a:prstGeom>
          <a:solidFill>
            <a:srgbClr val="E85D04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621792"/>
            <a:ext cx="548640" cy="5486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SYNAPSE AI</a:t>
            </a:r>
            <a:endParaRPr lang="en-US" sz="4800" dirty="0"/>
          </a:p>
        </p:txBody>
      </p:sp>
      <p:sp>
        <p:nvSpPr>
          <p:cNvPr id="25" name="Text 2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OS for AI Agents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3474720" y="2788920"/>
            <a:ext cx="2194560" cy="274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2944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Firebase for apps, but for AI agent state."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371600" y="3611880"/>
            <a:ext cx="2011680" cy="914400"/>
          </a:xfrm>
          <a:prstGeom prst="rect">
            <a:avLst>
              <a:gd name="adj" fmla="val 10000"/>
            </a:avLst>
          </a:prstGeom>
          <a:solidFill>
            <a:srgbClr val="0F1420">
              <a:alpha val="80000"/>
            </a:srgbClr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37160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$24M+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371600" y="4133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Validated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931920" y="3611880"/>
            <a:ext cx="2011680" cy="914400"/>
          </a:xfrm>
          <a:prstGeom prst="rect">
            <a:avLst>
              <a:gd name="adj" fmla="val 10000"/>
            </a:avLst>
          </a:prstGeom>
          <a:solidFill>
            <a:srgbClr val="0F1420">
              <a:alpha val="80000"/>
            </a:srgbClr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93192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lines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3931920" y="4133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92240" y="3611880"/>
            <a:ext cx="2011680" cy="914400"/>
          </a:xfrm>
          <a:prstGeom prst="rect">
            <a:avLst>
              <a:gd name="adj" fmla="val 10000"/>
            </a:avLst>
          </a:prstGeom>
          <a:solidFill>
            <a:srgbClr val="0F1420">
              <a:alpha val="80000"/>
            </a:srgbClr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49224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492240" y="4133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Savings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Make-A-Ton Hackathon  •  Team Flink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 Have Amnesia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28600" y="13716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restart wipes everything. Developers rebuild memory logic from scratch on every project.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2148840"/>
            <a:ext cx="4160520" cy="11430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2148840"/>
            <a:ext cx="54864" cy="11430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246888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Execution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" y="266090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crashes at step 4 of 6. Restart means starting over completely. All progress lost.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2148840"/>
            <a:ext cx="4160520" cy="11430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2148840"/>
            <a:ext cx="54864" cy="11430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46888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088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Token Waste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276088" y="266090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history stuffing passes entire conversations to LLMs. Costs explode. Latency soars.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8600" y="3474720"/>
            <a:ext cx="4160520" cy="11430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3474720"/>
            <a:ext cx="54864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79476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968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Visual Memory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86968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has no idea what the screen looked like last time. Duplicate actions. Wrong clicks.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17720" y="3474720"/>
            <a:ext cx="4160520" cy="11430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17720" y="3474720"/>
            <a:ext cx="54864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79476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76088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Cross-Model Memory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76088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from GPT-4 to Claude resets everything. No portable context. Vendor lock-in.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Most 'autonomous' agents are demos, not production systems.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Synapse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OS for AI Agents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1874520"/>
            <a:ext cx="4023360" cy="621792"/>
          </a:xfrm>
          <a:prstGeom prst="rect">
            <a:avLst/>
          </a:prstGeom>
          <a:solidFill>
            <a:srgbClr val="1E2A3A"/>
          </a:solidFill>
          <a:ln w="12700">
            <a:solidFill>
              <a:srgbClr val="E85D04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29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85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CrewAI / AutoGen / Custom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25146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04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" y="2624328"/>
            <a:ext cx="3886200" cy="6217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" y="2679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" y="293522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lines of code  ·  pip install synapseai-sdk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32644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04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3749040" cy="621792"/>
          </a:xfrm>
          <a:prstGeom prst="rect">
            <a:avLst/>
          </a:prstGeom>
          <a:solidFill>
            <a:srgbClr val="0F2A3A"/>
          </a:solidFill>
          <a:ln w="12700">
            <a:solidFill>
              <a:srgbClr val="E85D04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6850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+ Context + Visual + Predictive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57400" y="4014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04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" y="4123944"/>
            <a:ext cx="3611880" cy="621792"/>
          </a:xfrm>
          <a:prstGeom prst="rect">
            <a:avLst/>
          </a:prstGeom>
          <a:solidFill>
            <a:srgbClr val="0A1A2A"/>
          </a:solidFill>
          <a:ln w="12700">
            <a:solidFill>
              <a:srgbClr val="E85D04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1500" y="4178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" y="443484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Multi-tenant  ·  Always-on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4160520" cy="3154680"/>
          </a:xfrm>
          <a:prstGeom prst="rect">
            <a:avLst/>
          </a:prstGeom>
          <a:solidFill>
            <a:srgbClr val="0F142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901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Analogy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2395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23957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layer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4920" y="29626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9626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9626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data 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3529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3529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35295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layer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37760" y="4041648"/>
            <a:ext cx="3794760" cy="548640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40965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40965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4096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layer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37760" y="4663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you never have to build yourself.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Features Nobody Else Has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298448"/>
            <a:ext cx="2834640" cy="157276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98448"/>
            <a:ext cx="2834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426464"/>
            <a:ext cx="548640" cy="219456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264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75564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737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&amp; Resume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" y="221284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backend. Restart it. Agent picks up from the exact step it stopped at. Zero data loss.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298448"/>
            <a:ext cx="2834640" cy="157276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98448"/>
            <a:ext cx="283464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0128" y="1426464"/>
            <a:ext cx="722376" cy="219456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1426464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75564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94760" y="1737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Memory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28416" y="221284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actions, not just chat. Every step logged with status, timestamp, and result.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72200" y="1298448"/>
            <a:ext cx="2834640" cy="157276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1298448"/>
            <a:ext cx="2834640" cy="3657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81928" y="1426464"/>
            <a:ext cx="1156716" cy="219456"/>
          </a:xfrm>
          <a:prstGeom prst="rect">
            <a:avLst/>
          </a:prstGeom>
          <a:solidFill>
            <a:srgbClr val="B87333">
              <a:alpha val="20000"/>
            </a:srgbClr>
          </a:solidFill>
          <a:ln w="12700">
            <a:solidFill>
              <a:srgbClr val="B87333">
                <a:alpha val="6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81928" y="1426464"/>
            <a:ext cx="1156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SAVINGS</a:t>
            </a:r>
            <a:endParaRPr lang="en-US" sz="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75564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66560" y="1737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Compression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00216" y="221284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full history into a tiny structured prompt. Reduces token usage by up to 97%.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28600" y="3054096"/>
            <a:ext cx="2834640" cy="157276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28600" y="3054096"/>
            <a:ext cx="28346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38328" y="3182112"/>
            <a:ext cx="635508" cy="219456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38328" y="3182112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8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511296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22960" y="34930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Action Replay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356616" y="3968496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at every step. Agent sees what the screen looked like last time. No duplicates.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3200400" y="3054096"/>
            <a:ext cx="2834640" cy="157276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00400" y="3054096"/>
            <a:ext cx="283464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310128" y="3182112"/>
            <a:ext cx="635508" cy="219456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310128" y="3182112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8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511296"/>
            <a:ext cx="347472" cy="34747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794760" y="34930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Memory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3328416" y="3968496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2+ runs, Synapse predicts the next step and pre-loads context before the agent asks.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172200" y="3054096"/>
            <a:ext cx="2834640" cy="157276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172200" y="3054096"/>
            <a:ext cx="2834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281928" y="3182112"/>
            <a:ext cx="809244" cy="219456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281928" y="3182112"/>
            <a:ext cx="8092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LINES</a:t>
            </a:r>
            <a:endParaRPr lang="en-US" sz="8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511296"/>
            <a:ext cx="347472" cy="34747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766560" y="34930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SDK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6300216" y="3968496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synapseai-sdk. Works with LangChain, CrewAI, AutoGen, or any custom agent.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Restart/Resume Demo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1234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that proves everything. Watch Synapse remember what no other system can.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737360"/>
            <a:ext cx="2834640" cy="1353312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737360"/>
            <a:ext cx="45720" cy="13533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" y="1865376"/>
            <a:ext cx="347472" cy="347472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" y="18653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322576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receives task. Synapse creates a session. Steps registered as pending.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834640" cy="1353312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737360"/>
            <a:ext cx="45720" cy="135331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6704" y="1865376"/>
            <a:ext cx="347472" cy="347472"/>
          </a:xfrm>
          <a:prstGeom prst="ellipse">
            <a:avLst/>
          </a:prstGeom>
          <a:solidFill>
            <a:srgbClr val="E85D04">
              <a:alpha val="25000"/>
            </a:srgbClr>
          </a:solidFill>
          <a:ln w="12700">
            <a:solidFill>
              <a:srgbClr val="E85D04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85616" y="18653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Execute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4992" y="2322576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step by step. Each action logged to Synapse with timestamp and result.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1737360"/>
            <a:ext cx="2834640" cy="1353312"/>
          </a:xfrm>
          <a:prstGeom prst="rect">
            <a:avLst/>
          </a:prstGeom>
          <a:solidFill>
            <a:srgbClr val="1A0808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737360"/>
            <a:ext cx="45720" cy="13533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65376"/>
            <a:ext cx="347472" cy="347472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57416" y="18653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6792" y="2322576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killed mid-execution. Step 4 and 5 still pending. Most systems lose everything.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246120"/>
            <a:ext cx="2834640" cy="1353312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246120"/>
            <a:ext cx="45720" cy="135331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" y="3374136"/>
            <a:ext cx="347472" cy="347472"/>
          </a:xfrm>
          <a:prstGeom prst="ellipse">
            <a:avLst/>
          </a:prstGeom>
          <a:solidFill>
            <a:srgbClr val="B87333">
              <a:alpha val="25000"/>
            </a:srgbClr>
          </a:solidFill>
          <a:ln w="12700">
            <a:solidFill>
              <a:srgbClr val="B87333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" y="33741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Restarts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" y="3831336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comes back online with zero in-process memory. Blank slate.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3246120"/>
            <a:ext cx="2834640" cy="1353312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246120"/>
            <a:ext cx="45720" cy="13533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46704" y="3374136"/>
            <a:ext cx="347472" cy="347472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85616" y="33741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Remembers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64992" y="3831336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call: syn.resume(session_id). Returns: Completed steps + exact next step.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72200" y="3246120"/>
            <a:ext cx="2834640" cy="1353312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3246120"/>
            <a:ext cx="45720" cy="13533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18504" y="3374136"/>
            <a:ext cx="347472" cy="347472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57416" y="33741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Continues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36792" y="3831336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resumes from step 4 perfectly. No duplicates. No re-work. Full continuity.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Synapse vs. Buffer Memory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5120640" cy="34290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1709928" cy="384048"/>
          </a:xfrm>
          <a:prstGeom prst="rect">
            <a:avLst/>
          </a:prstGeom>
          <a:solidFill>
            <a:srgbClr val="131B2E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8988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8528" y="1371600"/>
            <a:ext cx="1709928" cy="384048"/>
          </a:xfrm>
          <a:prstGeom prst="rect">
            <a:avLst/>
          </a:prstGeom>
          <a:solidFill>
            <a:srgbClr val="200A0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38988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Memory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48456" y="1371600"/>
            <a:ext cx="1709928" cy="384048"/>
          </a:xfrm>
          <a:prstGeom prst="rect">
            <a:avLst/>
          </a:prstGeom>
          <a:solidFill>
            <a:srgbClr val="0A201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138988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755648"/>
            <a:ext cx="5120640" cy="420624"/>
          </a:xfrm>
          <a:prstGeom prst="rect">
            <a:avLst/>
          </a:prstGeom>
          <a:solidFill>
            <a:srgbClr val="0D152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1051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84248" y="181051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94176" y="181051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194560"/>
            <a:ext cx="5120640" cy="420624"/>
          </a:xfrm>
          <a:prstGeom prst="rect">
            <a:avLst/>
          </a:prstGeom>
          <a:solidFill>
            <a:srgbClr val="07090F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49424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(10 steps)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84248" y="2249424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~4,200 tokens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94176" y="2249424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 tokens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2633472"/>
            <a:ext cx="5120640" cy="420624"/>
          </a:xfrm>
          <a:prstGeom prst="rect">
            <a:avLst/>
          </a:prstGeom>
          <a:solidFill>
            <a:srgbClr val="0D152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88336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1K runs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84248" y="2688336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$0.50+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94176" y="2688336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072384"/>
            <a:ext cx="5120640" cy="420624"/>
          </a:xfrm>
          <a:prstGeom prst="rect">
            <a:avLst/>
          </a:prstGeom>
          <a:solidFill>
            <a:srgbClr val="07090F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127248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accuracy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84248" y="3127248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94176" y="3127248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511296"/>
            <a:ext cx="5120640" cy="420624"/>
          </a:xfrm>
          <a:prstGeom prst="rect">
            <a:avLst/>
          </a:prstGeom>
          <a:solidFill>
            <a:srgbClr val="0D152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56616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84248" y="356616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94176" y="356616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Screenshot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3950208"/>
            <a:ext cx="5120640" cy="420624"/>
          </a:xfrm>
          <a:prstGeom prst="rect">
            <a:avLst/>
          </a:prstGeom>
          <a:solidFill>
            <a:srgbClr val="07090F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00507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after crash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84248" y="400507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Restart zero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94176" y="400507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Exact step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4389120"/>
            <a:ext cx="5120640" cy="420624"/>
          </a:xfrm>
          <a:prstGeom prst="rect">
            <a:avLst/>
          </a:prstGeom>
          <a:solidFill>
            <a:srgbClr val="0D152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443984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84248" y="4443984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Locked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94176" y="4443984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Portable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1371600"/>
            <a:ext cx="3337560" cy="1005840"/>
          </a:xfrm>
          <a:prstGeom prst="rect">
            <a:avLst/>
          </a:prstGeom>
          <a:solidFill>
            <a:srgbClr val="0F1420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77840" y="137160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6949440" y="1444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Reduction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1773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vs 4,200 tokens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77840" y="2514600"/>
            <a:ext cx="3337560" cy="1005840"/>
          </a:xfrm>
          <a:prstGeom prst="rect">
            <a:avLst/>
          </a:prstGeom>
          <a:solidFill>
            <a:srgbClr val="0F1420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77840" y="2514600"/>
            <a:ext cx="54864" cy="10058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0" y="2587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7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50×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6949440" y="2587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49440" y="2916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 vs $0.50/1K runs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77840" y="3657600"/>
            <a:ext cx="3337560" cy="1005840"/>
          </a:xfrm>
          <a:prstGeom prst="rect">
            <a:avLst/>
          </a:prstGeom>
          <a:solidFill>
            <a:srgbClr val="0F1420"/>
          </a:solidFill>
          <a:ln w="12700">
            <a:solidFill>
              <a:srgbClr val="E85D04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577840" y="3657600"/>
            <a:ext cx="54864" cy="10058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3730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949440" y="3730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949440" y="4059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28600" y="482803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Measured on 10-step agent workflow with standard GPT-4o token pricing.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Massive. Validated. Right Now.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1335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FUNDING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4846320" cy="56692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64208"/>
            <a:ext cx="45720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719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29968" y="1719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layer — our direct comp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359152"/>
            <a:ext cx="4846320" cy="56692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359152"/>
            <a:ext cx="45720" cy="56692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414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Supermemory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29968" y="2414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Dean backed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670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memory API for AI apps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54096"/>
            <a:ext cx="4846320" cy="56692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54096"/>
            <a:ext cx="45720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29968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YC-backed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364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 from history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749040"/>
            <a:ext cx="4846320" cy="566928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749040"/>
            <a:ext cx="4572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803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29968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YC-backed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4059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AI agent memory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3520" y="1335024"/>
            <a:ext cx="3611880" cy="3566160"/>
          </a:xfrm>
          <a:prstGeom prst="rect">
            <a:avLst/>
          </a:prstGeom>
          <a:solidFill>
            <a:srgbClr val="0F1420"/>
          </a:solidFill>
          <a:ln w="12700">
            <a:solidFill>
              <a:srgbClr val="E85D04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0" y="1335024"/>
            <a:ext cx="361188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1463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Competitive Edge</a:t>
            </a:r>
            <a:endParaRPr lang="en-US" sz="15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975104"/>
            <a:ext cx="237744" cy="2377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760720" y="1938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Memory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760720" y="2194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agents DID, not just what was said. Nobody owns this.</a:t>
            </a:r>
            <a:endParaRPr lang="en-US" sz="10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542032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760720" y="25054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Memory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760720" y="27614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at every step. First in the category.</a:t>
            </a:r>
            <a:endParaRPr lang="en-US" sz="10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108960"/>
            <a:ext cx="237744" cy="23774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760720" y="30723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Context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760720" y="33284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Pre-loads context before the agent asks. Novel.</a:t>
            </a:r>
            <a:endParaRPr lang="en-US" sz="10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675888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760720" y="36393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Use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760720" y="38953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remembers every ticket, every action, no repeats.</a:t>
            </a:r>
            <a:endParaRPr lang="en-US" sz="10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242816"/>
            <a:ext cx="237744" cy="23774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760720" y="4206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SDK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760720" y="44622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synapseai-sdk. 3 lines. Any framework.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solidFill>
            <a:srgbClr val="0A1A08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market: $28.5B by 2028 (44% CAGR) — every agent needs memory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+ Usage-Based Pricing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" y="120700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as Stripe, Firebase, and Twilio. Free tier drives adoption. Pro tier drives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737360"/>
            <a:ext cx="2834640" cy="310896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737360"/>
            <a:ext cx="2834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88366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3192" y="22860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93192" y="27980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191256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9224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memory ops/mo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352044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9224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active sessions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849624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" y="3813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history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4178808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4507992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9224" y="4471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access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3200400" y="1737360"/>
            <a:ext cx="2834640" cy="3108960"/>
          </a:xfrm>
          <a:prstGeom prst="rect">
            <a:avLst/>
          </a:prstGeom>
          <a:solidFill>
            <a:srgbClr val="100808"/>
          </a:solidFill>
          <a:ln w="25400">
            <a:solidFill>
              <a:srgbClr val="E85D0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200400" y="1737360"/>
            <a:ext cx="2834640" cy="457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3977640" y="1554480"/>
            <a:ext cx="1280160" cy="23774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977640" y="15544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3364992" y="188366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3364992" y="22860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</a:t>
            </a:r>
            <a:endParaRPr lang="en-US" sz="3000" dirty="0"/>
          </a:p>
        </p:txBody>
      </p:sp>
      <p:sp>
        <p:nvSpPr>
          <p:cNvPr id="27" name="Text 20"/>
          <p:cNvSpPr/>
          <p:nvPr/>
        </p:nvSpPr>
        <p:spPr>
          <a:xfrm>
            <a:off x="3364992" y="27980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project/mo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191256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621024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memory ops/mo</a:t>
            </a:r>
            <a:endParaRPr lang="en-US" sz="11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52044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621024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sessions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3849624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621024" y="3813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history</a:t>
            </a:r>
            <a:endParaRPr lang="en-US" sz="11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4992" y="4178808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621024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memory storage</a:t>
            </a:r>
            <a:endParaRPr lang="en-US" sz="11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4992" y="4507992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3621024" y="4471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6172200" y="1737360"/>
            <a:ext cx="2834640" cy="310896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6172200" y="1737360"/>
            <a:ext cx="2834640" cy="457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6336792" y="188366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7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41" name="Text 29"/>
          <p:cNvSpPr/>
          <p:nvPr/>
        </p:nvSpPr>
        <p:spPr>
          <a:xfrm>
            <a:off x="6336792" y="22860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3000" dirty="0"/>
          </a:p>
        </p:txBody>
      </p:sp>
      <p:sp>
        <p:nvSpPr>
          <p:cNvPr id="42" name="Text 30"/>
          <p:cNvSpPr/>
          <p:nvPr/>
        </p:nvSpPr>
        <p:spPr>
          <a:xfrm>
            <a:off x="6336792" y="27980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1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6792" y="3191256"/>
            <a:ext cx="182880" cy="18288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592824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everything</a:t>
            </a:r>
            <a:endParaRPr lang="en-US" sz="11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6792" y="3520440"/>
            <a:ext cx="182880" cy="18288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92824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deploy</a:t>
            </a:r>
            <a:endParaRPr lang="en-US" sz="110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6792" y="3849624"/>
            <a:ext cx="182880" cy="18288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6592824" y="3813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/ HIPAA ready</a:t>
            </a:r>
            <a:endParaRPr lang="en-US" sz="11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6792" y="4178808"/>
            <a:ext cx="182880" cy="18288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6592824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guarantees</a:t>
            </a:r>
            <a:endParaRPr lang="en-US" sz="1100" dirty="0"/>
          </a:p>
        </p:txBody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6792" y="4507992"/>
            <a:ext cx="182880" cy="18288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6592824" y="4471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100" dirty="0"/>
          </a:p>
        </p:txBody>
      </p:sp>
      <p:sp>
        <p:nvSpPr>
          <p:cNvPr id="53" name="Shape 36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solidFill>
            <a:srgbClr val="0A100A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54" name="Text 37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math: 100 Pro users = $58,800/yr  ·  1,000 Pro users = $588,000/yr  ·  10 Enterprise = +$60,000/yr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Production-Ready from Day One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" y="1335024"/>
            <a:ext cx="4206240" cy="9144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35024"/>
            <a:ext cx="54864" cy="9144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" y="1463040"/>
            <a:ext cx="658368" cy="256032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4630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426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7556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335024"/>
            <a:ext cx="4206240" cy="9144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335024"/>
            <a:ext cx="54864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64024" y="1463040"/>
            <a:ext cx="658368" cy="256032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4630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1426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17556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SQLite local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414016"/>
            <a:ext cx="4206240" cy="9144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414016"/>
            <a:ext cx="54864" cy="9144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" y="2542032"/>
            <a:ext cx="658368" cy="256032"/>
          </a:xfrm>
          <a:prstGeom prst="rect">
            <a:avLst/>
          </a:prstGeom>
          <a:solidFill>
            <a:srgbClr val="B87333">
              <a:alpha val="20000"/>
            </a:srgbClr>
          </a:solidFill>
          <a:ln w="12700">
            <a:solidFill>
              <a:srgbClr val="B87333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" y="25420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25054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 CSS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8346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414016"/>
            <a:ext cx="4206240" cy="9144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414016"/>
            <a:ext cx="5486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4024" y="2542032"/>
            <a:ext cx="658368" cy="256032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25420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25054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(llama-3.1-8b)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28346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493008"/>
            <a:ext cx="4206240" cy="9144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493008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" y="3621024"/>
            <a:ext cx="658368" cy="25603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" y="36210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" y="3584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(PyPI published)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39136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synapseai-sdk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3493008"/>
            <a:ext cx="4206240" cy="91440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3493008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64024" y="3621024"/>
            <a:ext cx="658368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36210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32120" y="3584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API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32120" y="39136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API key delivery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solidFill>
            <a:srgbClr val="131B2E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6542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synapse-aii.netlify.app</a:t>
            </a:r>
            <a:pPr indent="0" marL="0">
              <a:buNone/>
            </a:pPr>
            <a:r>
              <a:rPr lang="en-US" sz="1100" b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API: </a:t>
            </a:r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synapse-backend-b5k1.onrender.com</a:t>
            </a:r>
            <a:pPr indent="0" marL="0">
              <a:buNone/>
            </a:pPr>
            <a:r>
              <a:rPr lang="en-US" sz="1100" b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PyPI: </a:t>
            </a:r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pypi.org/project/synapseai-sdk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Phases to Market Leadership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834640" cy="347472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28346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566928" cy="256032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3272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30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" y="1993392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975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" y="1956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" y="2523744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505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" y="2487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onboarding + API keys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" y="3054096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" y="3017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with Playwright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" y="3584448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" y="3547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comparison 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" y="4114800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" y="4078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 on GitHub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1371600"/>
            <a:ext cx="2834640" cy="347472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371600"/>
            <a:ext cx="2834640" cy="457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1508760"/>
            <a:ext cx="566928" cy="256032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15087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05072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→ 90 days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64992" y="1993392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1975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75888" y="1956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CrewAI native integrations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64992" y="2523744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2505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75888" y="2487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Immune System (failure memory)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64992" y="3054096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75888" y="3017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context portability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64992" y="3584448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75888" y="3547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developer early adopters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64992" y="4114800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75888" y="4078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vertical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1371600"/>
            <a:ext cx="2834640" cy="3474720"/>
          </a:xfrm>
          <a:prstGeom prst="rect">
            <a:avLst/>
          </a:prstGeom>
          <a:solidFill>
            <a:srgbClr val="0F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1371600"/>
            <a:ext cx="2834640" cy="457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508760"/>
            <a:ext cx="566928" cy="256032"/>
          </a:xfrm>
          <a:prstGeom prst="rect">
            <a:avLst/>
          </a:prstGeom>
          <a:solidFill>
            <a:srgbClr val="B87333">
              <a:alpha val="20000"/>
            </a:srgbClr>
          </a:solidFill>
          <a:ln w="12700">
            <a:solidFill>
              <a:srgbClr val="B87333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15087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76872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→ 1 year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36792" y="1993392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36792" y="1975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47688" y="1956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collaboration memory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36792" y="2523744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36792" y="2505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647688" y="2487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snapshot + debugger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36792" y="3054096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36792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47688" y="3017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private deployment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36792" y="3584448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36792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647688" y="3547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Pro tier customers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336792" y="4114800"/>
            <a:ext cx="219456" cy="21945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6792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47688" y="4078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$50K+ MRR — ramen profitable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28600" y="482803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live and deployed. Phase 2 begins immediately post-hackathon.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6400800" cy="6400800"/>
          </a:xfrm>
          <a:prstGeom prst="ellipse">
            <a:avLst/>
          </a:prstGeom>
          <a:solidFill>
            <a:srgbClr val="E85D04">
              <a:alpha val="8000"/>
            </a:srgbClr>
          </a:solidFill>
          <a:ln w="12700">
            <a:solidFill>
              <a:srgbClr val="E85D04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457200"/>
            <a:ext cx="694944" cy="6949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12984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SYNAPSE AI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457200" y="204825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OS for AI Agents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474720" y="2606040"/>
            <a:ext cx="219456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79806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agents forget everything. Synapse fixes that."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3401568"/>
            <a:ext cx="2468880" cy="786384"/>
          </a:xfrm>
          <a:prstGeom prst="rect">
            <a:avLst/>
          </a:prstGeom>
          <a:solidFill>
            <a:srgbClr val="0F1420"/>
          </a:solidFill>
          <a:ln w="12700">
            <a:solidFill>
              <a:srgbClr val="E85D04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" y="3767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synapse-aii.netlify.app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383280" y="3401568"/>
            <a:ext cx="2468880" cy="786384"/>
          </a:xfrm>
          <a:prstGeom prst="rect">
            <a:avLst/>
          </a:prstGeom>
          <a:solidFill>
            <a:srgbClr val="0F1420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383280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SDK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383280" y="3767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synapseai-sdk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126480" y="3401568"/>
            <a:ext cx="2468880" cy="786384"/>
          </a:xfrm>
          <a:prstGeom prst="rect">
            <a:avLst/>
          </a:prstGeom>
          <a:solidFill>
            <a:srgbClr val="0F1420"/>
          </a:solidFill>
          <a:ln w="12700">
            <a:solidFill>
              <a:srgbClr val="14B8A6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126480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26480" y="3767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synapse-backend-b5k1.onrender.com/docs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Flink  ·  Make-A-Ton 2026  ·  Built in one session  ·  Ready to ship today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Synapse AI — Pitch Deck</dc:title>
  <dc:subject>PptxGenJS Presentation</dc:subject>
  <dc:creator>PptxGenJS</dc:creator>
  <cp:lastModifiedBy>PptxGenJS</cp:lastModifiedBy>
  <cp:revision>1</cp:revision>
  <dcterms:created xsi:type="dcterms:W3CDTF">2026-04-04T18:22:26Z</dcterms:created>
  <dcterms:modified xsi:type="dcterms:W3CDTF">2026-04-04T18:22:26Z</dcterms:modified>
</cp:coreProperties>
</file>